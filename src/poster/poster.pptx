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58" r:id="rId5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96C9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87"/>
    <p:restoredTop sz="94752"/>
  </p:normalViewPr>
  <p:slideViewPr>
    <p:cSldViewPr snapToGrid="0">
      <p:cViewPr>
        <p:scale>
          <a:sx n="38" d="100"/>
          <a:sy n="38" d="100"/>
        </p:scale>
        <p:origin x="33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65861-B587-DD41-87B8-2F0489E63E79}" type="datetimeFigureOut">
              <a:rPr lang="es-CO" smtClean="0"/>
              <a:t>24/05/26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F9AFB-FD1C-8340-BF5B-4C8A6FCA9A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6660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F9AFB-FD1C-8340-BF5B-4C8A6FCA9AC4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92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24/5/26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24/5/26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24/5/26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24/5/26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24/5/26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24/5/26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24/5/26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24/5/26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24/5/26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24/5/26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24/5/26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24/5/26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A72C3-DD61-5B61-E46F-EDD19D1F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1AA44F9-4D9B-B58B-32B6-5CC8410E7CBE}"/>
              </a:ext>
            </a:extLst>
          </p:cNvPr>
          <p:cNvGrpSpPr/>
          <p:nvPr/>
        </p:nvGrpSpPr>
        <p:grpSpPr>
          <a:xfrm>
            <a:off x="225180" y="3484254"/>
            <a:ext cx="14668990" cy="1596687"/>
            <a:chOff x="225180" y="3930299"/>
            <a:chExt cx="14668990" cy="1596687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C4D1F524-44A5-F16E-9FD3-EE5EA5819EAD}"/>
                </a:ext>
              </a:extLst>
            </p:cNvPr>
            <p:cNvSpPr/>
            <p:nvPr/>
          </p:nvSpPr>
          <p:spPr>
            <a:xfrm>
              <a:off x="225180" y="4246822"/>
              <a:ext cx="14668990" cy="1280164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" dirty="0">
                  <a:solidFill>
                    <a:schemeClr val="tx1"/>
                  </a:solidFill>
                </a:rPr>
                <a:t>La obesidad es una condición multifactorial asociada a alteraciones metabólicas y a cambios en la regulación de múltiples genes. En esta actividad académica se analizaron perfiles de expresión simulados para evaluar diferencias asociadas a obesidad, aplicando herramientas bioinformáticas para su cuantificación, normalización e interpretación biológica</a:t>
              </a:r>
              <a:r>
                <a:rPr lang="es-CO" altLang="es-CO" dirty="0">
                  <a:solidFill>
                    <a:srgbClr val="000000"/>
                  </a:solidFill>
                </a:rPr>
                <a:t> identificar genes relacionados con obesidad y señalización </a:t>
              </a:r>
              <a:r>
                <a:rPr lang="es-CO" altLang="es-CO" dirty="0" err="1">
                  <a:solidFill>
                    <a:srgbClr val="000000"/>
                  </a:solidFill>
                </a:rPr>
                <a:t>leptínica</a:t>
              </a:r>
              <a:r>
                <a:rPr lang="es-CO" altLang="es-CO" dirty="0">
                  <a:solidFill>
                    <a:srgbClr val="000000"/>
                  </a:solidFill>
                </a:rPr>
                <a:t>.</a:t>
              </a:r>
              <a:endParaRPr lang="es-ES_tradnl" sz="24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15811AE5-F929-12ED-D44E-9D1519220278}"/>
                </a:ext>
              </a:extLst>
            </p:cNvPr>
            <p:cNvSpPr/>
            <p:nvPr/>
          </p:nvSpPr>
          <p:spPr>
            <a:xfrm>
              <a:off x="518258" y="393029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  <a:endParaRPr lang="es-ES_tradnl" sz="2800" b="1" dirty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88FB225B-2F62-B172-D75B-E02EF3836A0E}"/>
              </a:ext>
            </a:extLst>
          </p:cNvPr>
          <p:cNvGrpSpPr/>
          <p:nvPr/>
        </p:nvGrpSpPr>
        <p:grpSpPr>
          <a:xfrm>
            <a:off x="207596" y="5169142"/>
            <a:ext cx="14668990" cy="2064004"/>
            <a:chOff x="207596" y="6110487"/>
            <a:chExt cx="14668990" cy="2064004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FC179AD0-ED02-975F-E151-1E1C61EAD8F2}"/>
                </a:ext>
              </a:extLst>
            </p:cNvPr>
            <p:cNvSpPr/>
            <p:nvPr/>
          </p:nvSpPr>
          <p:spPr>
            <a:xfrm>
              <a:off x="207596" y="6458136"/>
              <a:ext cx="14668990" cy="1716355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360000" rtlCol="0" anchor="ctr"/>
            <a:lstStyle/>
            <a:p>
              <a:pPr lvl="0" algn="just" defTabSz="914400" eaLnBrk="0" fontAlgn="ctr" hangingPunct="0">
                <a:spcBef>
                  <a:spcPct val="0"/>
                </a:spcBef>
                <a:spcAft>
                  <a:spcPct val="0"/>
                </a:spcAft>
              </a:pPr>
              <a:r>
                <a:rPr lang="es-ES" altLang="es-CO" dirty="0">
                  <a:solidFill>
                    <a:srgbClr val="000000"/>
                  </a:solidFill>
                </a:rPr>
                <a:t>Primero se evaluó la calidad de los archivos FASTQ mediante </a:t>
              </a:r>
              <a:r>
                <a:rPr lang="es-ES" altLang="es-CO" b="1" dirty="0" err="1">
                  <a:solidFill>
                    <a:srgbClr val="002060"/>
                  </a:solidFill>
                </a:rPr>
                <a:t>FastQC</a:t>
              </a:r>
              <a:r>
                <a:rPr lang="es-ES" altLang="es-CO" dirty="0">
                  <a:solidFill>
                    <a:srgbClr val="000000"/>
                  </a:solidFill>
                </a:rPr>
                <a:t> y </a:t>
              </a:r>
              <a:r>
                <a:rPr lang="es-ES" altLang="es-CO" b="1" dirty="0" err="1">
                  <a:solidFill>
                    <a:srgbClr val="002060"/>
                  </a:solidFill>
                </a:rPr>
                <a:t>MultiQC</a:t>
              </a:r>
              <a:r>
                <a:rPr lang="es-ES" altLang="es-CO" dirty="0">
                  <a:solidFill>
                    <a:srgbClr val="000000"/>
                  </a:solidFill>
                </a:rPr>
                <a:t> para comprobar la integridad de las lecturas. Luego se realizó la cuantificación transcriptómica con la herramienta </a:t>
              </a:r>
              <a:r>
                <a:rPr lang="es-ES" altLang="es-CO" b="1" dirty="0">
                  <a:solidFill>
                    <a:srgbClr val="002060"/>
                  </a:solidFill>
                </a:rPr>
                <a:t>Salmon</a:t>
              </a:r>
              <a:r>
                <a:rPr lang="es-ES" altLang="es-CO" dirty="0">
                  <a:solidFill>
                    <a:srgbClr val="000000"/>
                  </a:solidFill>
                </a:rPr>
                <a:t>.  Se continuó con el análisis estadístico y gráfico usando los paquetes </a:t>
              </a:r>
              <a:r>
                <a:rPr lang="es-ES" altLang="es-CO" b="1" dirty="0">
                  <a:solidFill>
                    <a:srgbClr val="002060"/>
                  </a:solidFill>
                </a:rPr>
                <a:t>DESeq2</a:t>
              </a:r>
              <a:r>
                <a:rPr lang="es-ES" altLang="es-CO" dirty="0">
                  <a:solidFill>
                    <a:srgbClr val="000000"/>
                  </a:solidFill>
                </a:rPr>
                <a:t>, </a:t>
              </a:r>
              <a:r>
                <a:rPr lang="es-ES" altLang="es-CO" b="1" dirty="0">
                  <a:solidFill>
                    <a:srgbClr val="002060"/>
                  </a:solidFill>
                </a:rPr>
                <a:t>ggplot2</a:t>
              </a:r>
              <a:r>
                <a:rPr lang="es-ES" altLang="es-CO" dirty="0">
                  <a:solidFill>
                    <a:srgbClr val="000000"/>
                  </a:solidFill>
                </a:rPr>
                <a:t>, </a:t>
              </a:r>
              <a:r>
                <a:rPr lang="es-ES" altLang="es-CO" b="1" dirty="0" err="1">
                  <a:solidFill>
                    <a:srgbClr val="002060"/>
                  </a:solidFill>
                </a:rPr>
                <a:t>pheatmap</a:t>
              </a:r>
              <a:r>
                <a:rPr lang="es-ES" altLang="es-CO" dirty="0">
                  <a:solidFill>
                    <a:srgbClr val="000000"/>
                  </a:solidFill>
                </a:rPr>
                <a:t> y </a:t>
              </a:r>
              <a:r>
                <a:rPr lang="es-ES" altLang="es-CO" b="1" dirty="0" err="1">
                  <a:solidFill>
                    <a:srgbClr val="002060"/>
                  </a:solidFill>
                </a:rPr>
                <a:t>clusterProfiler</a:t>
              </a:r>
              <a:r>
                <a:rPr lang="es-ES" altLang="es-CO" dirty="0">
                  <a:solidFill>
                    <a:srgbClr val="000000"/>
                  </a:solidFill>
                </a:rPr>
                <a:t> de </a:t>
              </a:r>
              <a:r>
                <a:rPr lang="es-ES" altLang="es-CO" b="1" dirty="0">
                  <a:solidFill>
                    <a:srgbClr val="002060"/>
                  </a:solidFill>
                </a:rPr>
                <a:t>R</a:t>
              </a:r>
              <a:r>
                <a:rPr lang="es-ES" altLang="es-CO" b="1" dirty="0">
                  <a:solidFill>
                    <a:srgbClr val="000000"/>
                  </a:solidFill>
                </a:rPr>
                <a:t>, </a:t>
              </a:r>
              <a:r>
                <a:rPr lang="es-ES" altLang="es-CO" dirty="0">
                  <a:solidFill>
                    <a:srgbClr val="000000"/>
                  </a:solidFill>
                </a:rPr>
                <a:t>mostrando los genes significativos mediante </a:t>
              </a:r>
              <a:r>
                <a:rPr lang="es-ES" altLang="es-CO" b="1" dirty="0" err="1">
                  <a:solidFill>
                    <a:srgbClr val="002060"/>
                  </a:solidFill>
                </a:rPr>
                <a:t>heatmaps</a:t>
              </a:r>
              <a:r>
                <a:rPr lang="es-ES" altLang="es-CO" dirty="0">
                  <a:solidFill>
                    <a:srgbClr val="000000"/>
                  </a:solidFill>
                </a:rPr>
                <a:t> y </a:t>
              </a:r>
              <a:r>
                <a:rPr lang="es-ES" altLang="es-CO" b="1" dirty="0" err="1">
                  <a:solidFill>
                    <a:srgbClr val="002060"/>
                  </a:solidFill>
                </a:rPr>
                <a:t>volcano</a:t>
              </a:r>
              <a:r>
                <a:rPr lang="es-ES" altLang="es-CO" b="1" dirty="0">
                  <a:solidFill>
                    <a:srgbClr val="002060"/>
                  </a:solidFill>
                </a:rPr>
                <a:t> </a:t>
              </a:r>
              <a:r>
                <a:rPr lang="es-ES" altLang="es-CO" b="1" dirty="0" err="1">
                  <a:solidFill>
                    <a:srgbClr val="002060"/>
                  </a:solidFill>
                </a:rPr>
                <a:t>plots</a:t>
              </a:r>
              <a:r>
                <a:rPr lang="es-ES" altLang="es-CO" b="1" dirty="0">
                  <a:solidFill>
                    <a:srgbClr val="002060"/>
                  </a:solidFill>
                </a:rPr>
                <a:t>. </a:t>
              </a:r>
              <a:r>
                <a:rPr lang="es-ES" altLang="es-CO" dirty="0">
                  <a:solidFill>
                    <a:schemeClr val="tx1"/>
                  </a:solidFill>
                </a:rPr>
                <a:t>Finalmente, </a:t>
              </a:r>
              <a:r>
                <a:rPr lang="es-ES" altLang="es-CO" dirty="0">
                  <a:solidFill>
                    <a:srgbClr val="000000"/>
                  </a:solidFill>
                </a:rPr>
                <a:t>se realizó el análisis de enriquecimiento funcional utilizando el paquete </a:t>
              </a:r>
              <a:r>
                <a:rPr lang="es-ES" altLang="es-CO" b="1" dirty="0" err="1">
                  <a:solidFill>
                    <a:srgbClr val="002060"/>
                  </a:solidFill>
                </a:rPr>
                <a:t>enrichR</a:t>
              </a:r>
              <a:r>
                <a:rPr lang="es-ES" altLang="es-CO" dirty="0">
                  <a:solidFill>
                    <a:srgbClr val="000000"/>
                  </a:solidFill>
                </a:rPr>
                <a:t> de </a:t>
              </a:r>
              <a:r>
                <a:rPr lang="es-ES" altLang="es-CO" b="1" dirty="0">
                  <a:solidFill>
                    <a:srgbClr val="002060"/>
                  </a:solidFill>
                </a:rPr>
                <a:t>R</a:t>
              </a:r>
              <a:r>
                <a:rPr lang="es-ES" altLang="es-CO" dirty="0">
                  <a:solidFill>
                    <a:srgbClr val="000000"/>
                  </a:solidFill>
                </a:rPr>
                <a:t>, empleando bases de datos funcionales como </a:t>
              </a:r>
              <a:r>
                <a:rPr lang="es-ES" altLang="es-CO" b="1" dirty="0">
                  <a:solidFill>
                    <a:srgbClr val="002060"/>
                  </a:solidFill>
                </a:rPr>
                <a:t>GO </a:t>
              </a:r>
              <a:r>
                <a:rPr lang="es-ES" altLang="es-CO" b="1" dirty="0" err="1">
                  <a:solidFill>
                    <a:srgbClr val="002060"/>
                  </a:solidFill>
                </a:rPr>
                <a:t>Biological</a:t>
              </a:r>
              <a:r>
                <a:rPr lang="es-ES" altLang="es-CO" b="1" dirty="0">
                  <a:solidFill>
                    <a:srgbClr val="002060"/>
                  </a:solidFill>
                </a:rPr>
                <a:t> </a:t>
              </a:r>
              <a:r>
                <a:rPr lang="es-ES" altLang="es-CO" b="1" dirty="0" err="1">
                  <a:solidFill>
                    <a:srgbClr val="002060"/>
                  </a:solidFill>
                </a:rPr>
                <a:t>Process</a:t>
              </a:r>
              <a:r>
                <a:rPr lang="es-ES" altLang="es-CO" dirty="0">
                  <a:solidFill>
                    <a:srgbClr val="000000"/>
                  </a:solidFill>
                </a:rPr>
                <a:t>, </a:t>
              </a:r>
              <a:r>
                <a:rPr lang="es-ES" altLang="es-CO" b="1" dirty="0">
                  <a:solidFill>
                    <a:srgbClr val="002060"/>
                  </a:solidFill>
                </a:rPr>
                <a:t>KEGG</a:t>
              </a:r>
              <a:r>
                <a:rPr lang="es-ES" altLang="es-CO" dirty="0">
                  <a:solidFill>
                    <a:srgbClr val="000000"/>
                  </a:solidFill>
                </a:rPr>
                <a:t> y </a:t>
              </a:r>
              <a:r>
                <a:rPr lang="es-ES" altLang="es-CO" b="1" dirty="0" err="1">
                  <a:solidFill>
                    <a:srgbClr val="002060"/>
                  </a:solidFill>
                </a:rPr>
                <a:t>Reactome</a:t>
              </a:r>
              <a:r>
                <a:rPr lang="es-ES" altLang="es-CO" b="1" dirty="0">
                  <a:solidFill>
                    <a:srgbClr val="000000"/>
                  </a:solidFill>
                </a:rPr>
                <a:t>, </a:t>
              </a:r>
              <a:r>
                <a:rPr lang="es-ES" altLang="es-CO" dirty="0">
                  <a:solidFill>
                    <a:srgbClr val="000000"/>
                  </a:solidFill>
                </a:rPr>
                <a:t>para identificar patrones de expresión génica y procesos biológicos asociados a los fenotipos Obeso y </a:t>
              </a:r>
              <a:r>
                <a:rPr lang="es-ES" altLang="es-CO" dirty="0" err="1">
                  <a:solidFill>
                    <a:srgbClr val="000000"/>
                  </a:solidFill>
                </a:rPr>
                <a:t>Normopeso</a:t>
              </a:r>
              <a:r>
                <a:rPr lang="es-ES" altLang="es-CO" dirty="0">
                  <a:solidFill>
                    <a:srgbClr val="000000"/>
                  </a:solidFill>
                </a:rPr>
                <a:t>.</a:t>
              </a:r>
              <a:endParaRPr lang="es-CO" altLang="es-CO" dirty="0">
                <a:solidFill>
                  <a:schemeClr val="tx1"/>
                </a:solidFill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51C45BDA-AC75-EE13-A211-698BB3CF2EDC}"/>
                </a:ext>
              </a:extLst>
            </p:cNvPr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METODOLOGÍA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449220D-F047-A208-80A5-ECB282B1A62A}"/>
              </a:ext>
            </a:extLst>
          </p:cNvPr>
          <p:cNvGrpSpPr/>
          <p:nvPr/>
        </p:nvGrpSpPr>
        <p:grpSpPr>
          <a:xfrm>
            <a:off x="450360" y="7341576"/>
            <a:ext cx="14668990" cy="9782603"/>
            <a:chOff x="225180" y="8290675"/>
            <a:chExt cx="14668990" cy="9782603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F757B5F2-E57A-7217-E1AA-4D7E21F42FA0}"/>
                </a:ext>
              </a:extLst>
            </p:cNvPr>
            <p:cNvSpPr/>
            <p:nvPr/>
          </p:nvSpPr>
          <p:spPr>
            <a:xfrm>
              <a:off x="225180" y="8607196"/>
              <a:ext cx="14668990" cy="9466082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D2CE81C2-DE7D-86C0-BE63-0B1C502B9BDA}"/>
                </a:ext>
              </a:extLst>
            </p:cNvPr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RESULTADOS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D59CAA55-5763-DE38-517F-B4583DC8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767" y="-95516"/>
            <a:ext cx="2325820" cy="14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7943CC5D-1654-184E-A7EC-A76F98FA9E8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E5760BA-D4D0-7C9E-76ED-065ED1139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4D86C97A-A2AB-20A7-3EB2-1F46C5416136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70138B42-E335-E05D-E193-37141538289E}"/>
              </a:ext>
            </a:extLst>
          </p:cNvPr>
          <p:cNvSpPr/>
          <p:nvPr/>
        </p:nvSpPr>
        <p:spPr>
          <a:xfrm>
            <a:off x="677955" y="1320342"/>
            <a:ext cx="13763441" cy="1981203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tlCol="0" anchor="ctr"/>
          <a:lstStyle/>
          <a:p>
            <a:pPr algn="ctr"/>
            <a:r>
              <a:rPr lang="es-ES_tradnl" sz="4000" b="1" dirty="0">
                <a:solidFill>
                  <a:schemeClr val="bg1"/>
                </a:solidFill>
              </a:rPr>
              <a:t>Análisis de expresión diferencial de genes relacionados con la obesidad mediante RNA-</a:t>
            </a:r>
            <a:r>
              <a:rPr lang="es-ES_tradnl" sz="4000" b="1" dirty="0" err="1">
                <a:solidFill>
                  <a:schemeClr val="bg1"/>
                </a:solidFill>
              </a:rPr>
              <a:t>seq</a:t>
            </a:r>
            <a:r>
              <a:rPr lang="es-ES_tradnl" sz="4000" b="1" dirty="0">
                <a:solidFill>
                  <a:schemeClr val="bg1"/>
                </a:solidFill>
              </a:rPr>
              <a:t> </a:t>
            </a:r>
          </a:p>
          <a:p>
            <a:pPr algn="ctr">
              <a:lnSpc>
                <a:spcPct val="80000"/>
              </a:lnSpc>
            </a:pPr>
            <a:r>
              <a:rPr lang="es-ES_tradnl" sz="2800" b="1" i="1" dirty="0">
                <a:solidFill>
                  <a:schemeClr val="bg1"/>
                </a:solidFill>
              </a:rPr>
              <a:t>Secuenciación y Ómicas de Próxima Generación</a:t>
            </a:r>
            <a:endParaRPr lang="es-ES_tradnl" sz="3600" b="1" i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sz="2000" b="1" i="1" dirty="0">
                <a:solidFill>
                  <a:schemeClr val="bg1"/>
                </a:solidFill>
              </a:rPr>
              <a:t>Freddy Rodríguez, Deivis Martínez, Carlos Pérez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C6C9477-586D-D4FB-ADEE-063D77B3A812}"/>
              </a:ext>
            </a:extLst>
          </p:cNvPr>
          <p:cNvGrpSpPr/>
          <p:nvPr/>
        </p:nvGrpSpPr>
        <p:grpSpPr>
          <a:xfrm>
            <a:off x="207596" y="17303689"/>
            <a:ext cx="9095800" cy="3844742"/>
            <a:chOff x="225181" y="17303689"/>
            <a:chExt cx="9095800" cy="3844742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1B34C5B1-3A9B-391B-803D-711026F44639}"/>
                </a:ext>
              </a:extLst>
            </p:cNvPr>
            <p:cNvSpPr/>
            <p:nvPr/>
          </p:nvSpPr>
          <p:spPr>
            <a:xfrm>
              <a:off x="225181" y="17620211"/>
              <a:ext cx="9095800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dirty="0">
                  <a:solidFill>
                    <a:schemeClr val="tx1"/>
                  </a:solidFill>
                </a:rPr>
                <a:t>Las diferencias transcriptómicas observadas entre los fenotipos Obeso1 y </a:t>
              </a:r>
              <a:r>
                <a:rPr lang="es-ES_tradnl" dirty="0" err="1">
                  <a:solidFill>
                    <a:schemeClr val="tx1"/>
                  </a:solidFill>
                </a:rPr>
                <a:t>Normopeso</a:t>
              </a:r>
              <a:r>
                <a:rPr lang="es-ES_tradnl" dirty="0">
                  <a:solidFill>
                    <a:schemeClr val="tx1"/>
                  </a:solidFill>
                </a:rPr>
                <a:t> sugieren la existencia de mecanismos moleculares asociados con la regulación energética y metabólica que podrían contribuir al desarrollo de obesidad. La identificación de genes relacionados con señalización </a:t>
              </a:r>
              <a:r>
                <a:rPr lang="es-ES_tradnl" dirty="0" err="1">
                  <a:solidFill>
                    <a:schemeClr val="tx1"/>
                  </a:solidFill>
                </a:rPr>
                <a:t>leptínica</a:t>
              </a:r>
              <a:r>
                <a:rPr lang="es-ES_tradnl" dirty="0">
                  <a:solidFill>
                    <a:schemeClr val="tx1"/>
                  </a:solidFill>
                </a:rPr>
                <a:t> y control del apetito respalda la complejidad multifactorial de esta condición y evidencia cómo pequeñas variaciones en la expresión génica pueden reflejar estados fisiológicos diferenciados.</a:t>
              </a:r>
            </a:p>
            <a:p>
              <a:pPr algn="just">
                <a:lnSpc>
                  <a:spcPct val="80000"/>
                </a:lnSpc>
              </a:pPr>
              <a:r>
                <a:rPr lang="es-ES_tradnl" dirty="0">
                  <a:solidFill>
                    <a:schemeClr val="tx1"/>
                  </a:solidFill>
                </a:rPr>
                <a:t>Adicionalmente, los patrones identificados indican que el perfil </a:t>
              </a:r>
              <a:r>
                <a:rPr lang="es-ES_tradnl" dirty="0" err="1">
                  <a:solidFill>
                    <a:schemeClr val="tx1"/>
                  </a:solidFill>
                </a:rPr>
                <a:t>transcriptómico</a:t>
              </a:r>
              <a:r>
                <a:rPr lang="es-ES_tradnl" dirty="0">
                  <a:solidFill>
                    <a:schemeClr val="tx1"/>
                  </a:solidFill>
                </a:rPr>
                <a:t> de los individuos Obeso1 presenta una mayor tendencia hacia procesos asociados con desregulación metabólica, mientras que los individuos </a:t>
              </a:r>
              <a:r>
                <a:rPr lang="es-ES_tradnl" dirty="0" err="1">
                  <a:solidFill>
                    <a:schemeClr val="tx1"/>
                  </a:solidFill>
                </a:rPr>
                <a:t>Normopeso</a:t>
              </a:r>
              <a:r>
                <a:rPr lang="es-ES_tradnl" dirty="0">
                  <a:solidFill>
                    <a:schemeClr val="tx1"/>
                  </a:solidFill>
                </a:rPr>
                <a:t> mostraron perfiles compatibles con mecanismos de homeostasis energética más estables. Estos hallazgos coinciden con estudios previos que relacionan alteraciones en rutas hormonales y de señalización neuronal con cambios en el balance energético y acumulación de tejido adiposo.</a:t>
              </a:r>
            </a:p>
          </p:txBody>
        </p:sp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id="{3BC039B6-C9D2-02F3-8F27-C85043A7CC84}"/>
                </a:ext>
              </a:extLst>
            </p:cNvPr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DISCUSIÓN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CDA7380-1384-C476-FC20-7A4A09E7B7FE}"/>
              </a:ext>
            </a:extLst>
          </p:cNvPr>
          <p:cNvGrpSpPr/>
          <p:nvPr/>
        </p:nvGrpSpPr>
        <p:grpSpPr>
          <a:xfrm>
            <a:off x="9509873" y="17303689"/>
            <a:ext cx="5366712" cy="3844742"/>
            <a:chOff x="7784856" y="17303689"/>
            <a:chExt cx="7109314" cy="3844742"/>
          </a:xfrm>
        </p:grpSpPr>
        <p:sp>
          <p:nvSpPr>
            <p:cNvPr id="37" name="Rectángulo redondeado 36">
              <a:extLst>
                <a:ext uri="{FF2B5EF4-FFF2-40B4-BE49-F238E27FC236}">
                  <a16:creationId xmlns:a16="http://schemas.microsoft.com/office/drawing/2014/main" id="{367F38DE-6476-4ED5-51AD-7070BD6A603F}"/>
                </a:ext>
              </a:extLst>
            </p:cNvPr>
            <p:cNvSpPr/>
            <p:nvPr/>
          </p:nvSpPr>
          <p:spPr>
            <a:xfrm>
              <a:off x="7784856" y="17620211"/>
              <a:ext cx="7109314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dirty="0">
                  <a:solidFill>
                    <a:schemeClr val="tx1"/>
                  </a:solidFill>
                </a:rPr>
                <a:t>Nuestros resultados permitieron identificar diferencias transcriptómicas entre individuos Obeso1 y </a:t>
              </a:r>
              <a:r>
                <a:rPr lang="es-ES_tradnl" dirty="0" err="1">
                  <a:solidFill>
                    <a:schemeClr val="tx1"/>
                  </a:solidFill>
                </a:rPr>
                <a:t>Normopeso</a:t>
              </a:r>
              <a:r>
                <a:rPr lang="es-ES_tradnl" dirty="0">
                  <a:solidFill>
                    <a:schemeClr val="tx1"/>
                  </a:solidFill>
                </a:rPr>
                <a:t>, evidenciando genes asociados con regulación del apetito y homeostasis energética. Los análisis de expresión diferencial y enriquecimiento funcional mostraron perfiles moleculares diferenciados entre ambos fenotipos, respaldando el uso de herramientas transcriptómicas para estudiar mecanismos genéticos asociados con obesidad. Sin embargo, se requieren más individuos y validaciones funcionales para fortalecer los hallazgos obtenidos.</a:t>
              </a:r>
            </a:p>
            <a:p>
              <a:pPr algn="just">
                <a:lnSpc>
                  <a:spcPct val="80000"/>
                </a:lnSpc>
              </a:pPr>
              <a:endParaRPr lang="es-ES_tradnl" i="1" dirty="0">
                <a:solidFill>
                  <a:schemeClr val="tx1"/>
                </a:solidFill>
              </a:endParaRP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id="{0757AA33-190F-8E74-0CAC-D7C442BACE75}"/>
                </a:ext>
              </a:extLst>
            </p:cNvPr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CONCLUSIONES</a:t>
              </a:r>
            </a:p>
          </p:txBody>
        </p:sp>
      </p:grpSp>
      <p:sp>
        <p:nvSpPr>
          <p:cNvPr id="40" name="Rectángulo redondeado 39">
            <a:extLst>
              <a:ext uri="{FF2B5EF4-FFF2-40B4-BE49-F238E27FC236}">
                <a16:creationId xmlns:a16="http://schemas.microsoft.com/office/drawing/2014/main" id="{3F03464F-6AD8-145A-F4F0-58880920BB73}"/>
              </a:ext>
            </a:extLst>
          </p:cNvPr>
          <p:cNvSpPr/>
          <p:nvPr/>
        </p:nvSpPr>
        <p:spPr>
          <a:xfrm>
            <a:off x="587372" y="8161614"/>
            <a:ext cx="6673850" cy="85958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lnSpc>
                <a:spcPct val="80000"/>
              </a:lnSpc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1. </a:t>
            </a:r>
            <a:r>
              <a:rPr lang="es-CO" altLang="es-CO" dirty="0">
                <a:solidFill>
                  <a:srgbClr val="000000"/>
                </a:solidFill>
              </a:rPr>
              <a:t>Expresión diferencial de genes asociados con obesidad. </a:t>
            </a:r>
            <a:r>
              <a:rPr lang="es-CO" altLang="es-CO" b="1" dirty="0">
                <a:solidFill>
                  <a:srgbClr val="FF0000"/>
                </a:solidFill>
              </a:rPr>
              <a:t>LEPR</a:t>
            </a:r>
            <a:r>
              <a:rPr lang="es-CO" altLang="es-CO" dirty="0">
                <a:solidFill>
                  <a:srgbClr val="000000"/>
                </a:solidFill>
              </a:rPr>
              <a:t> presentó sobreexpresión en </a:t>
            </a:r>
            <a:r>
              <a:rPr lang="es-CO" altLang="es-CO" b="1" dirty="0">
                <a:solidFill>
                  <a:srgbClr val="000000"/>
                </a:solidFill>
              </a:rPr>
              <a:t>Obeso1</a:t>
            </a:r>
            <a:r>
              <a:rPr lang="es-CO" altLang="es-CO" dirty="0">
                <a:solidFill>
                  <a:srgbClr val="000000"/>
                </a:solidFill>
              </a:rPr>
              <a:t>, mientras que </a:t>
            </a:r>
            <a:r>
              <a:rPr lang="es-CO" altLang="es-CO" b="1" dirty="0">
                <a:solidFill>
                  <a:srgbClr val="FF0000"/>
                </a:solidFill>
              </a:rPr>
              <a:t>MC4R</a:t>
            </a:r>
            <a:r>
              <a:rPr lang="es-CO" altLang="es-CO" dirty="0">
                <a:solidFill>
                  <a:srgbClr val="000000"/>
                </a:solidFill>
              </a:rPr>
              <a:t> mostró mayor expresión relativa en </a:t>
            </a:r>
            <a:r>
              <a:rPr lang="es-CO" altLang="es-CO" b="1" dirty="0" err="1">
                <a:solidFill>
                  <a:srgbClr val="000000"/>
                </a:solidFill>
              </a:rPr>
              <a:t>Normopeso</a:t>
            </a:r>
            <a:r>
              <a:rPr lang="es-CO" altLang="es-CO" dirty="0">
                <a:solidFill>
                  <a:srgbClr val="000000"/>
                </a:solidFill>
              </a:rPr>
              <a:t>.</a:t>
            </a:r>
            <a:endParaRPr kumimoji="0" lang="es-ES_tradnl" sz="1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ángulo redondeado 40">
            <a:extLst>
              <a:ext uri="{FF2B5EF4-FFF2-40B4-BE49-F238E27FC236}">
                <a16:creationId xmlns:a16="http://schemas.microsoft.com/office/drawing/2014/main" id="{A5674FB9-8324-DF2F-A950-34B0495EFB78}"/>
              </a:ext>
            </a:extLst>
          </p:cNvPr>
          <p:cNvSpPr/>
          <p:nvPr/>
        </p:nvSpPr>
        <p:spPr>
          <a:xfrm>
            <a:off x="7510949" y="7868807"/>
            <a:ext cx="7358673" cy="112254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80000"/>
              </a:lnSpc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ea typeface="+mn-ea"/>
                <a:cs typeface="+mn-cs"/>
              </a:rPr>
              <a:t>Figura 2.</a:t>
            </a: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lang="es-CO" altLang="es-CO" dirty="0" err="1">
                <a:solidFill>
                  <a:srgbClr val="000000"/>
                </a:solidFill>
              </a:rPr>
              <a:t>Heatmap</a:t>
            </a:r>
            <a:r>
              <a:rPr lang="es-CO" altLang="es-CO" dirty="0">
                <a:solidFill>
                  <a:srgbClr val="000000"/>
                </a:solidFill>
              </a:rPr>
              <a:t> de expresión génica y agrupamiento jerárquico entre individuos </a:t>
            </a:r>
            <a:r>
              <a:rPr lang="es-CO" altLang="es-CO" b="1" dirty="0">
                <a:solidFill>
                  <a:srgbClr val="000000"/>
                </a:solidFill>
              </a:rPr>
              <a:t>Obeso1</a:t>
            </a:r>
            <a:r>
              <a:rPr lang="es-CO" altLang="es-CO" dirty="0">
                <a:solidFill>
                  <a:srgbClr val="000000"/>
                </a:solidFill>
              </a:rPr>
              <a:t> y </a:t>
            </a:r>
            <a:r>
              <a:rPr lang="es-CO" altLang="es-CO" b="1" dirty="0" err="1">
                <a:solidFill>
                  <a:srgbClr val="000000"/>
                </a:solidFill>
              </a:rPr>
              <a:t>Normopeso</a:t>
            </a:r>
            <a:r>
              <a:rPr lang="es-CO" altLang="es-CO" b="1" dirty="0">
                <a:solidFill>
                  <a:srgbClr val="000000"/>
                </a:solidFill>
              </a:rPr>
              <a:t>.</a:t>
            </a:r>
            <a:r>
              <a:rPr lang="es-CO" altLang="es-CO" dirty="0">
                <a:solidFill>
                  <a:srgbClr val="000000"/>
                </a:solidFill>
              </a:rPr>
              <a:t> El análisis evidencia patrones </a:t>
            </a:r>
            <a:r>
              <a:rPr lang="es-CO" altLang="es-CO" dirty="0" err="1">
                <a:solidFill>
                  <a:srgbClr val="000000"/>
                </a:solidFill>
              </a:rPr>
              <a:t>transcriptómicos</a:t>
            </a:r>
            <a:r>
              <a:rPr lang="es-CO" altLang="es-CO" dirty="0">
                <a:solidFill>
                  <a:srgbClr val="000000"/>
                </a:solidFill>
              </a:rPr>
              <a:t> diferenciales y agrupamiento entre muestras con perfiles metabólicos similares, destacándose genes asociados con regulación del apetito y homeostasis energética, como </a:t>
            </a:r>
            <a:r>
              <a:rPr lang="es-CO" altLang="es-CO" b="1" dirty="0">
                <a:solidFill>
                  <a:srgbClr val="FF0000"/>
                </a:solidFill>
              </a:rPr>
              <a:t>LEPR</a:t>
            </a:r>
            <a:r>
              <a:rPr lang="es-CO" altLang="es-CO" dirty="0">
                <a:solidFill>
                  <a:srgbClr val="000000"/>
                </a:solidFill>
              </a:rPr>
              <a:t> y </a:t>
            </a:r>
            <a:r>
              <a:rPr lang="es-CO" altLang="es-CO" b="1" dirty="0">
                <a:solidFill>
                  <a:srgbClr val="FF0000"/>
                </a:solidFill>
              </a:rPr>
              <a:t>MC4R</a:t>
            </a:r>
            <a:r>
              <a:rPr lang="es-CO" altLang="es-CO" dirty="0">
                <a:solidFill>
                  <a:srgbClr val="000000"/>
                </a:solidFill>
              </a:rPr>
              <a:t>.</a:t>
            </a:r>
            <a:endParaRPr lang="es-CO" altLang="es-CO" dirty="0">
              <a:solidFill>
                <a:schemeClr val="tx1"/>
              </a:solidFill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FE68D8F5-83FE-1320-0889-61BB323002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729"/>
          <a:stretch>
            <a:fillRect/>
          </a:stretch>
        </p:blipFill>
        <p:spPr>
          <a:xfrm>
            <a:off x="928993" y="9087496"/>
            <a:ext cx="5852378" cy="3521986"/>
          </a:xfrm>
          <a:prstGeom prst="rect">
            <a:avLst/>
          </a:prstGeom>
        </p:spPr>
      </p:pic>
      <p:sp>
        <p:nvSpPr>
          <p:cNvPr id="42" name="Rectángulo redondeado 41">
            <a:extLst>
              <a:ext uri="{FF2B5EF4-FFF2-40B4-BE49-F238E27FC236}">
                <a16:creationId xmlns:a16="http://schemas.microsoft.com/office/drawing/2014/main" id="{DBA5D115-13C1-4AD1-5A7E-A34E8D76DF6D}"/>
              </a:ext>
            </a:extLst>
          </p:cNvPr>
          <p:cNvSpPr/>
          <p:nvPr/>
        </p:nvSpPr>
        <p:spPr>
          <a:xfrm>
            <a:off x="518258" y="12609482"/>
            <a:ext cx="6673849" cy="119818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80000"/>
              </a:lnSpc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ea typeface="+mn-ea"/>
                <a:cs typeface="+mn-cs"/>
              </a:rPr>
              <a:t>Figura 3.</a:t>
            </a: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s-ES_tradnl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V</a:t>
            </a:r>
            <a:r>
              <a:rPr lang="es-CO" altLang="es-CO" dirty="0" err="1">
                <a:solidFill>
                  <a:srgbClr val="000000"/>
                </a:solidFill>
              </a:rPr>
              <a:t>olcano</a:t>
            </a:r>
            <a:r>
              <a:rPr lang="es-CO" altLang="es-CO" dirty="0">
                <a:solidFill>
                  <a:srgbClr val="000000"/>
                </a:solidFill>
              </a:rPr>
              <a:t> </a:t>
            </a:r>
            <a:r>
              <a:rPr lang="es-CO" altLang="es-CO" dirty="0" err="1">
                <a:solidFill>
                  <a:srgbClr val="000000"/>
                </a:solidFill>
              </a:rPr>
              <a:t>plot</a:t>
            </a:r>
            <a:r>
              <a:rPr lang="es-CO" altLang="es-CO" dirty="0">
                <a:solidFill>
                  <a:srgbClr val="000000"/>
                </a:solidFill>
              </a:rPr>
              <a:t> de la comparación </a:t>
            </a:r>
            <a:r>
              <a:rPr lang="es-CO" altLang="es-CO" b="1" dirty="0">
                <a:solidFill>
                  <a:srgbClr val="000000"/>
                </a:solidFill>
              </a:rPr>
              <a:t>Obeso1 vs </a:t>
            </a:r>
            <a:r>
              <a:rPr lang="es-CO" altLang="es-CO" b="1" dirty="0" err="1">
                <a:solidFill>
                  <a:srgbClr val="000000"/>
                </a:solidFill>
              </a:rPr>
              <a:t>Normopeso</a:t>
            </a:r>
            <a:r>
              <a:rPr lang="es-CO" altLang="es-CO" dirty="0">
                <a:solidFill>
                  <a:srgbClr val="000000"/>
                </a:solidFill>
              </a:rPr>
              <a:t>, que muestra la magnitud del cambio de expresión génica y su significancia estadística. Los genes </a:t>
            </a:r>
            <a:r>
              <a:rPr lang="es-CO" altLang="es-CO" b="1" dirty="0">
                <a:solidFill>
                  <a:srgbClr val="FF0000"/>
                </a:solidFill>
              </a:rPr>
              <a:t>LEPR </a:t>
            </a:r>
            <a:r>
              <a:rPr lang="es-CO" altLang="es-CO" dirty="0">
                <a:solidFill>
                  <a:srgbClr val="000000"/>
                </a:solidFill>
              </a:rPr>
              <a:t>y </a:t>
            </a:r>
            <a:r>
              <a:rPr lang="es-CO" altLang="es-CO" b="1" dirty="0">
                <a:solidFill>
                  <a:srgbClr val="FF0000"/>
                </a:solidFill>
              </a:rPr>
              <a:t>MC4R</a:t>
            </a:r>
            <a:r>
              <a:rPr lang="es-CO" altLang="es-CO" dirty="0">
                <a:solidFill>
                  <a:srgbClr val="000000"/>
                </a:solidFill>
              </a:rPr>
              <a:t> se destacaron como los principales genes diferencialmente expresados entre ambos fenotipos.</a:t>
            </a:r>
            <a:endParaRPr lang="es-CO" altLang="es-CO" dirty="0">
              <a:solidFill>
                <a:schemeClr val="tx1"/>
              </a:solidFill>
            </a:endParaRPr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BDC0C78C-D92D-A2B8-C32F-7AC634B2BD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0635" y="9040316"/>
            <a:ext cx="7408987" cy="3521986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616B9C84-0C23-C0EF-1CFD-CDC857DC58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8748" y="13807664"/>
            <a:ext cx="4148599" cy="3191807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1D23CFAB-70BF-6BA5-C8F6-17D583E3B609}"/>
              </a:ext>
            </a:extLst>
          </p:cNvPr>
          <p:cNvSpPr txBox="1"/>
          <p:nvPr/>
        </p:nvSpPr>
        <p:spPr>
          <a:xfrm>
            <a:off x="8181474" y="866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 dirty="0"/>
          </a:p>
        </p:txBody>
      </p:sp>
      <p:sp>
        <p:nvSpPr>
          <p:cNvPr id="51" name="Rectángulo redondeado 50">
            <a:extLst>
              <a:ext uri="{FF2B5EF4-FFF2-40B4-BE49-F238E27FC236}">
                <a16:creationId xmlns:a16="http://schemas.microsoft.com/office/drawing/2014/main" id="{9D1E2217-0A83-2B95-45DB-0D1787D45D38}"/>
              </a:ext>
            </a:extLst>
          </p:cNvPr>
          <p:cNvSpPr/>
          <p:nvPr/>
        </p:nvSpPr>
        <p:spPr>
          <a:xfrm>
            <a:off x="7559675" y="12786632"/>
            <a:ext cx="7358673" cy="115788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80000"/>
              </a:lnSpc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ea typeface="+mn-ea"/>
                <a:cs typeface="+mn-cs"/>
              </a:rPr>
              <a:t>Figura 4. </a:t>
            </a:r>
            <a:r>
              <a:rPr lang="es-CO" altLang="es-CO" i="1" dirty="0">
                <a:solidFill>
                  <a:srgbClr val="000000"/>
                </a:solidFill>
              </a:rPr>
              <a:t>Análisis de enriquecimiento funcional</a:t>
            </a:r>
            <a:r>
              <a:rPr lang="es-CO" altLang="es-CO" dirty="0">
                <a:solidFill>
                  <a:srgbClr val="000000"/>
                </a:solidFill>
              </a:rPr>
              <a:t> de genes diferencialmente expresados entre </a:t>
            </a:r>
            <a:r>
              <a:rPr lang="es-CO" altLang="es-CO" b="1" dirty="0">
                <a:solidFill>
                  <a:srgbClr val="000000"/>
                </a:solidFill>
              </a:rPr>
              <a:t>Obeso1</a:t>
            </a:r>
            <a:r>
              <a:rPr lang="es-CO" altLang="es-CO" dirty="0">
                <a:solidFill>
                  <a:srgbClr val="000000"/>
                </a:solidFill>
              </a:rPr>
              <a:t> y </a:t>
            </a:r>
            <a:r>
              <a:rPr lang="es-CO" altLang="es-CO" b="1" dirty="0" err="1">
                <a:solidFill>
                  <a:srgbClr val="000000"/>
                </a:solidFill>
              </a:rPr>
              <a:t>Normopeso</a:t>
            </a:r>
            <a:r>
              <a:rPr lang="es-CO" altLang="es-CO" dirty="0">
                <a:solidFill>
                  <a:srgbClr val="000000"/>
                </a:solidFill>
              </a:rPr>
              <a:t>. Los procesos biológicos enriquecidos estuvieron principalmente asociados con </a:t>
            </a:r>
            <a:r>
              <a:rPr lang="es-CO" altLang="es-CO" b="1" dirty="0">
                <a:solidFill>
                  <a:srgbClr val="FF0000"/>
                </a:solidFill>
              </a:rPr>
              <a:t>regulación del apetito</a:t>
            </a:r>
            <a:r>
              <a:rPr lang="es-CO" altLang="es-CO" dirty="0">
                <a:solidFill>
                  <a:srgbClr val="000000"/>
                </a:solidFill>
              </a:rPr>
              <a:t>, </a:t>
            </a:r>
            <a:r>
              <a:rPr lang="es-CO" altLang="es-CO" b="1" dirty="0">
                <a:solidFill>
                  <a:srgbClr val="FF0000"/>
                </a:solidFill>
              </a:rPr>
              <a:t>homeostasis energética </a:t>
            </a:r>
            <a:r>
              <a:rPr lang="es-CO" altLang="es-CO" dirty="0">
                <a:solidFill>
                  <a:srgbClr val="000000"/>
                </a:solidFill>
              </a:rPr>
              <a:t>y </a:t>
            </a:r>
            <a:r>
              <a:rPr lang="es-CO" altLang="es-CO" b="1" dirty="0">
                <a:solidFill>
                  <a:srgbClr val="FF0000"/>
                </a:solidFill>
              </a:rPr>
              <a:t>señalización </a:t>
            </a:r>
            <a:r>
              <a:rPr lang="es-CO" altLang="es-CO" b="1" dirty="0" err="1">
                <a:solidFill>
                  <a:srgbClr val="FF0000"/>
                </a:solidFill>
              </a:rPr>
              <a:t>leptínica</a:t>
            </a:r>
            <a:r>
              <a:rPr lang="es-CO" altLang="es-CO" b="1" dirty="0">
                <a:solidFill>
                  <a:srgbClr val="FF0000"/>
                </a:solidFill>
              </a:rPr>
              <a:t>.</a:t>
            </a: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endParaRPr lang="es-CO" altLang="es-CO" b="1" dirty="0">
              <a:solidFill>
                <a:srgbClr val="FF0000"/>
              </a:solidFill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B710C8EE-9C4E-9613-5CA6-EA6A11BA753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0953"/>
          <a:stretch>
            <a:fillRect/>
          </a:stretch>
        </p:blipFill>
        <p:spPr>
          <a:xfrm>
            <a:off x="8273839" y="13878914"/>
            <a:ext cx="5535657" cy="3136835"/>
          </a:xfrm>
          <a:prstGeom prst="rect">
            <a:avLst/>
          </a:prstGeom>
        </p:spPr>
      </p:pic>
      <p:pic>
        <p:nvPicPr>
          <p:cNvPr id="31" name="Drawing 0" descr="1b169564d-3d9a-4073-883f-ac06bc9ce792.png">
            <a:extLst>
              <a:ext uri="{FF2B5EF4-FFF2-40B4-BE49-F238E27FC236}">
                <a16:creationId xmlns:a16="http://schemas.microsoft.com/office/drawing/2014/main" id="{433ADB50-CD79-4DAE-97F5-0CC162A13EC9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13125365" y="2075159"/>
            <a:ext cx="907888" cy="94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999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933766-0056-42DC-9416-E7C06BCFC0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8B5577-5CCE-4E9D-BDFA-952900719EE2}">
  <ds:schemaRefs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2006/documentManagement/types"/>
    <ds:schemaRef ds:uri="0a70e875-3d35-4be2-921f-7117c31bab9b"/>
    <ds:schemaRef ds:uri="27c1adeb-3674-457c-b08c-8a73f31b6e23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3E95016-93A9-4903-BA02-7A05B5939C7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2203</TotalTime>
  <Words>554</Words>
  <Application>Microsoft Macintosh PowerPoint</Application>
  <PresentationFormat>Personalizado</PresentationFormat>
  <Paragraphs>18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Victor  de la O Pascual</dc:creator>
  <cp:lastModifiedBy>Freddy Rodriguez</cp:lastModifiedBy>
  <cp:revision>27</cp:revision>
  <dcterms:created xsi:type="dcterms:W3CDTF">2025-04-21T10:03:24Z</dcterms:created>
  <dcterms:modified xsi:type="dcterms:W3CDTF">2026-05-24T15:58:41Z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